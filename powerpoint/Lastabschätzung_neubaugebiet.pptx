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14"/>
  </p:notesMasterIdLst>
  <p:handoutMasterIdLst>
    <p:handoutMasterId r:id="rId15"/>
  </p:handoutMasterIdLst>
  <p:sldIdLst>
    <p:sldId id="289" r:id="rId5"/>
    <p:sldId id="275" r:id="rId6"/>
    <p:sldId id="287" r:id="rId7"/>
    <p:sldId id="356" r:id="rId8"/>
    <p:sldId id="352" r:id="rId9"/>
    <p:sldId id="265" r:id="rId10"/>
    <p:sldId id="343" r:id="rId11"/>
    <p:sldId id="353" r:id="rId12"/>
    <p:sldId id="260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8FB66C-71C9-4C8B-A436-A42D00048ED6}" v="48" dt="2026-05-22T10:26:16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09" autoAdjust="0"/>
  </p:normalViewPr>
  <p:slideViewPr>
    <p:cSldViewPr snapToGrid="0">
      <p:cViewPr varScale="1">
        <p:scale>
          <a:sx n="103" d="100"/>
          <a:sy n="103" d="100"/>
        </p:scale>
        <p:origin x="138" y="4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64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A3792589-B758-7D0F-A910-A3151D0A27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2A72CDF-59DA-1E25-F204-CB6445B399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4EEC1-9451-4EB6-8DD1-FB8C3CC33663}" type="datetimeFigureOut">
              <a:rPr lang="de-DE" smtClean="0"/>
              <a:t>29.05.2026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9EAB20-134A-9E0B-DBED-74C42F5B375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4DC884-5F6B-87B9-E275-69311ED596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97C935-D3B6-43E1-97DA-C6C81CB658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28122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1D3AB0-8BC0-40BA-BB1D-C5888829E2A3}" type="datetimeFigureOut">
              <a:rPr lang="de-DE" smtClean="0"/>
              <a:t>29.05.2026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64B673-1D3F-4134-BAFB-EFB9D96784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4442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C5DA344-5FA2-43F7-9D95-CA56C82B080A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D7D3E5B-4BED-B24C-9674-6B6454D04561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80612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4B673-1D3F-4134-BAFB-EFB9D9678470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9497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51C9-C60C-4980-10F3-8C0773A4E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E097DF3-E8DF-92B6-5365-A64ED71B6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53A5F7B-120D-CF4B-E11D-A01725602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B8E7BB-281F-B5B9-430F-3F31BC181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1408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0550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267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7782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7E1B0-C944-E3BD-E720-F8C4D2C7B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9CF55F7-D3F2-CFC2-6E3C-0192F0E54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51637B8-7E88-A80C-986D-00442F292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3AD221-EBC6-D202-AF70-2657E20CE3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6820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4B673-1D3F-4134-BAFB-EFB9D9678470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4064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3B6692-688E-B936-E208-CCF7C8099D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5F5803F-FADC-8AA8-88B9-0FB9B92AC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14A7F6-82D4-039F-E609-66E3ECBD3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E3E4-533B-4990-BED9-4FC7E69CA1D3}" type="datetimeFigureOut">
              <a:rPr lang="de-DE" smtClean="0"/>
              <a:t>29.05.2026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D1D772-F3DA-89EE-CE59-CA9609900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6FCBC8-C239-29B1-8062-97667759C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172A-CADB-4726-B788-14AB453976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7133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DF7D7F-563D-C2FE-C65E-BDD6BF32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FD60C7-298D-E579-33EB-A5BF724AE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B8147A-F5BD-77E6-A93A-9DE22B5C6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E3E4-533B-4990-BED9-4FC7E69CA1D3}" type="datetimeFigureOut">
              <a:rPr lang="de-DE" smtClean="0"/>
              <a:t>29.05.2026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1240C2-42AA-C1D1-31CB-F662AFDA1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5C2FBC-2004-F988-E598-EA4A63972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172A-CADB-4726-B788-14AB453976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13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B08D98-8573-0614-58D5-14CD9ADC1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E17D31-41FC-F123-0C3A-D5CD27FD4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399B94-C7DA-8DDD-FB35-A538BD96C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E3E4-533B-4990-BED9-4FC7E69CA1D3}" type="datetimeFigureOut">
              <a:rPr lang="de-DE" smtClean="0"/>
              <a:t>29.05.2026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BE336F-D253-D58F-644E-8D9CC660F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A5C70D-AEBA-5230-AEEF-EEBAF4B2C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172A-CADB-4726-B788-14AB453976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6713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20B38A-99AF-C780-45F3-332E12B9D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032466-159D-1627-75BA-2E8599B3B3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AB92B36-C6C5-97FE-154C-8053C87A8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68F59D-D4BB-BD65-AF4B-BB44D4CED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E3E4-533B-4990-BED9-4FC7E69CA1D3}" type="datetimeFigureOut">
              <a:rPr lang="de-DE" smtClean="0"/>
              <a:t>29.05.2026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BEABC1-FEC5-E8A0-B570-CB1152A35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2A5995-BC20-9E8B-0E27-BFAE12980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172A-CADB-4726-B788-14AB453976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962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ACB221-2B83-AA78-50AD-3ED9DAF90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56DA50-CECA-9879-D0C7-954680CE6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B4D0FF9-934B-F037-9139-9D550BC3F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B8AB191-BC6E-696A-70D1-8D775335F6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8754B5A-55E0-43BF-4F81-EFD6D029B7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1B8A697-5001-16D6-6D5A-4059ECA3E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E3E4-533B-4990-BED9-4FC7E69CA1D3}" type="datetimeFigureOut">
              <a:rPr lang="de-DE" smtClean="0"/>
              <a:t>29.05.2026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38CF77F-AA18-DC57-718E-90769F3E7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1EDF33B-403C-06E0-8699-FCE291EB2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172A-CADB-4726-B788-14AB453976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5846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0FA5A6-0A50-2F07-CCEB-36A6FFA12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8580CAF-781B-CCF8-7FD5-F89AFB568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E3E4-533B-4990-BED9-4FC7E69CA1D3}" type="datetimeFigureOut">
              <a:rPr lang="de-DE" smtClean="0"/>
              <a:t>29.05.2026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114C0F-A312-1140-D4F0-2C94C77C2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D017DB8-3C6E-9122-54BE-CC514B9F7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172A-CADB-4726-B788-14AB453976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506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65A0166-49F3-E28A-9663-D684094E8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E3E4-533B-4990-BED9-4FC7E69CA1D3}" type="datetimeFigureOut">
              <a:rPr lang="de-DE" smtClean="0"/>
              <a:t>29.05.2026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9B6B435-58A7-F7EB-8974-929FBC2DC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3ABCD7-7FBE-799A-FBF3-E2C71A15A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172A-CADB-4726-B788-14AB453976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3741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F2E9C7-3EBB-7DD7-E28F-DC547F986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488DDC-D9A7-DEFC-BF69-D3A3963B7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1222E3B-7EE0-683B-AB4B-85C761A38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E2297F-5C85-8A64-7982-3893E141C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E3E4-533B-4990-BED9-4FC7E69CA1D3}" type="datetimeFigureOut">
              <a:rPr lang="de-DE" smtClean="0"/>
              <a:t>29.05.2026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1B28B5A-C9AF-CF60-75CD-C88E389F2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1EEB8B0-8EF2-A5F3-8D77-987E06BCF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172A-CADB-4726-B788-14AB453976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5394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98D148-61E4-1D0B-C4AF-71035EA8D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B2F6CFC-5DE2-31AB-EB15-13CDC6FF56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36A5F1-D34E-D259-E065-758F82049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88EEBCD-D68D-D1C0-0C87-577FB262E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E3E4-533B-4990-BED9-4FC7E69CA1D3}" type="datetimeFigureOut">
              <a:rPr lang="de-DE" smtClean="0"/>
              <a:t>29.05.2026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849F093-A6AC-861D-DDC1-98F7076C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ABD9BF1-BFC0-A066-6CEB-70C6B5217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172A-CADB-4726-B788-14AB453976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980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31864F-73D8-36DA-AB7D-FEDA9BD7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BBCC91B-BA8D-7659-D3AF-8DD00325B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DB0DCF-6610-F2F6-9C40-FB68D875E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E3E4-533B-4990-BED9-4FC7E69CA1D3}" type="datetimeFigureOut">
              <a:rPr lang="de-DE" smtClean="0"/>
              <a:t>29.05.2026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D1EFE0-F5CF-BA83-C981-08DB5CCBA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66365B-628D-34D6-0D6A-F53968E8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172A-CADB-4726-B788-14AB453976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355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7273025-7663-C590-45AC-38994735F1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A54AB63-2359-FC07-01CB-F0AC11917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567BDF-E027-5422-168F-743BF1801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E3E4-533B-4990-BED9-4FC7E69CA1D3}" type="datetimeFigureOut">
              <a:rPr lang="de-DE" smtClean="0"/>
              <a:t>29.05.2026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068AD8-A78A-F77C-5732-0EDECF10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F18AD1-3E31-45B9-F0A3-6579CE94B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C172A-CADB-4726-B788-14AB453976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8657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Nur Titel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el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rtlCol="0" anchor="b" anchorCtr="0">
            <a:noAutofit/>
          </a:bodyPr>
          <a:lstStyle>
            <a:lvl1pPr algn="l">
              <a:defRPr lang="de-DE" sz="4400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 rtlCol="0">
            <a:normAutofit/>
          </a:bodyPr>
          <a:lstStyle>
            <a:lvl1pPr marL="0" indent="0" algn="r">
              <a:buNone/>
              <a:defRPr lang="de-DE" sz="2000"/>
            </a:lvl1pPr>
          </a:lstStyle>
          <a:p>
            <a:pPr rtl="0"/>
            <a:r>
              <a:rPr lang="de-DE"/>
              <a:t>Klicken Sie, um ein Bild hinzuzufügen.</a:t>
            </a:r>
          </a:p>
        </p:txBody>
      </p:sp>
    </p:spTree>
    <p:extLst>
      <p:ext uri="{BB962C8B-B14F-4D97-AF65-F5344CB8AC3E}">
        <p14:creationId xmlns:p14="http://schemas.microsoft.com/office/powerpoint/2010/main" val="2388462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222" y="654637"/>
            <a:ext cx="4834517" cy="2774361"/>
          </a:xfrm>
        </p:spPr>
        <p:txBody>
          <a:bodyPr lIns="0" tIns="0" rIns="0" bIns="0" rtlCol="0" anchor="b">
            <a:noAutofit/>
          </a:bodyPr>
          <a:lstStyle>
            <a:lvl1pPr>
              <a:defRPr lang="de-DE" sz="3600" cap="all" baseline="0"/>
            </a:lvl1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346650F3-FE62-E3A1-C1F7-6A7E767D0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2" y="653461"/>
            <a:ext cx="4597556" cy="554990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96221" y="3429000"/>
            <a:ext cx="4834517" cy="2774361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de-DE" sz="2000" cap="all" baseline="0"/>
            </a:lvl1pPr>
            <a:lvl2pPr marL="457200" indent="0">
              <a:buNone/>
              <a:defRPr lang="de-DE"/>
            </a:lvl2pPr>
            <a:lvl3pPr marL="914400" indent="0">
              <a:buNone/>
              <a:defRPr lang="de-DE"/>
            </a:lvl3pPr>
            <a:lvl4pPr marL="1371600" indent="0">
              <a:buNone/>
              <a:defRPr lang="de-DE"/>
            </a:lvl4pPr>
            <a:lvl5pPr marL="1828800" indent="0">
              <a:buNone/>
              <a:defRPr lang="de-DE"/>
            </a:lvl5pPr>
          </a:lstStyle>
          <a:p>
            <a:pPr lvl="0" rtl="0"/>
            <a:r>
              <a:rPr lang="de-DE"/>
              <a:t>KLICKEN SIE, UM MASTERTEXTFORMATE ZU BEARBEITEN.</a:t>
            </a:r>
          </a:p>
        </p:txBody>
      </p:sp>
    </p:spTree>
    <p:extLst>
      <p:ext uri="{BB962C8B-B14F-4D97-AF65-F5344CB8AC3E}">
        <p14:creationId xmlns:p14="http://schemas.microsoft.com/office/powerpoint/2010/main" val="37327181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6879" y="884902"/>
            <a:ext cx="4567228" cy="1877976"/>
          </a:xfrm>
        </p:spPr>
        <p:txBody>
          <a:bodyPr lIns="0" tIns="0" rIns="0" bIns="0" rtlCol="0">
            <a:noAutofit/>
          </a:bodyPr>
          <a:lstStyle>
            <a:lvl1pPr>
              <a:defRPr lang="de-DE" sz="3600" baseline="0"/>
            </a:lvl1pPr>
          </a:lstStyle>
          <a:p>
            <a:pPr rtl="0"/>
            <a:r>
              <a:rPr lang="de-DE"/>
              <a:t>MASTERTITELFORMAT DURCH KLICKEN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2125" y="409576"/>
            <a:ext cx="5789913" cy="6067424"/>
          </a:xfrm>
        </p:spPr>
        <p:txBody>
          <a:bodyPr lIns="0" tIns="0" rIns="0" bIns="0" rtlCol="0">
            <a:noAutofit/>
          </a:bodyPr>
          <a:lstStyle>
            <a:lvl1pPr>
              <a:defRPr lang="de-DE">
                <a:latin typeface="+mn-lt"/>
              </a:defRPr>
            </a:lvl1pPr>
            <a:lvl2pPr>
              <a:defRPr lang="de-DE">
                <a:latin typeface="+mn-lt"/>
              </a:defRPr>
            </a:lvl2pPr>
            <a:lvl3pPr>
              <a:defRPr lang="de-DE">
                <a:latin typeface="+mn-lt"/>
              </a:defRPr>
            </a:lvl3pPr>
            <a:lvl4pPr>
              <a:defRPr lang="de-DE">
                <a:latin typeface="+mn-lt"/>
              </a:defRPr>
            </a:lvl4pPr>
            <a:lvl5pPr>
              <a:defRPr lang="de-DE">
                <a:latin typeface="+mn-lt"/>
              </a:defRPr>
            </a:lvl5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reihandform 5" descr="Mann blickt hoch zu Wolkenkratzern">
            <a:extLst>
              <a:ext uri="{FF2B5EF4-FFF2-40B4-BE49-F238E27FC236}">
                <a16:creationId xmlns:a16="http://schemas.microsoft.com/office/drawing/2014/main" id="{7BCB4311-6C5C-4FCF-5824-E1C8254AC360}"/>
              </a:ext>
            </a:extLst>
          </p:cNvPr>
          <p:cNvSpPr/>
          <p:nvPr userDrawn="1"/>
        </p:nvSpPr>
        <p:spPr>
          <a:xfrm rot="2329651">
            <a:off x="-532604" y="2895950"/>
            <a:ext cx="5658498" cy="5088743"/>
          </a:xfrm>
          <a:custGeom>
            <a:avLst/>
            <a:gdLst>
              <a:gd name="connsiteX0" fmla="*/ 1041364 w 5658498"/>
              <a:gd name="connsiteY0" fmla="*/ 660618 h 5088743"/>
              <a:gd name="connsiteX1" fmla="*/ 2881574 w 5658498"/>
              <a:gd name="connsiteY1" fmla="*/ 0 h 5088743"/>
              <a:gd name="connsiteX2" fmla="*/ 5644500 w 5658498"/>
              <a:gd name="connsiteY2" fmla="*/ 2032703 h 5088743"/>
              <a:gd name="connsiteX3" fmla="*/ 5658498 w 5658498"/>
              <a:gd name="connsiteY3" fmla="*/ 2087143 h 5088743"/>
              <a:gd name="connsiteX4" fmla="*/ 1928931 w 5658498"/>
              <a:gd name="connsiteY4" fmla="*/ 5088743 h 5088743"/>
              <a:gd name="connsiteX5" fmla="*/ 0 w 5658498"/>
              <a:gd name="connsiteY5" fmla="*/ 2691993 h 5088743"/>
              <a:gd name="connsiteX6" fmla="*/ 7450 w 5658498"/>
              <a:gd name="connsiteY6" fmla="*/ 2560795 h 5088743"/>
              <a:gd name="connsiteX7" fmla="*/ 1041364 w 5658498"/>
              <a:gd name="connsiteY7" fmla="*/ 660618 h 5088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58498" h="5088743">
                <a:moveTo>
                  <a:pt x="1041364" y="660618"/>
                </a:moveTo>
                <a:cubicBezTo>
                  <a:pt x="1541443" y="247916"/>
                  <a:pt x="2182557" y="0"/>
                  <a:pt x="2881574" y="0"/>
                </a:cubicBezTo>
                <a:cubicBezTo>
                  <a:pt x="4179749" y="0"/>
                  <a:pt x="5278215" y="855058"/>
                  <a:pt x="5644500" y="2032703"/>
                </a:cubicBezTo>
                <a:lnTo>
                  <a:pt x="5658498" y="2087143"/>
                </a:lnTo>
                <a:lnTo>
                  <a:pt x="1928931" y="5088743"/>
                </a:lnTo>
                <a:lnTo>
                  <a:pt x="0" y="2691993"/>
                </a:lnTo>
                <a:lnTo>
                  <a:pt x="7450" y="2560795"/>
                </a:lnTo>
                <a:cubicBezTo>
                  <a:pt x="94683" y="1797754"/>
                  <a:pt x="478776" y="1124908"/>
                  <a:pt x="1041364" y="660618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8000" contrast="-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3B5704EA-7A65-5CC2-D428-F28396B06208}"/>
              </a:ext>
            </a:extLst>
          </p:cNvPr>
          <p:cNvSpPr/>
          <p:nvPr userDrawn="1"/>
        </p:nvSpPr>
        <p:spPr>
          <a:xfrm>
            <a:off x="356461" y="2238899"/>
            <a:ext cx="1411557" cy="1411557"/>
          </a:xfrm>
          <a:prstGeom prst="ellipse">
            <a:avLst/>
          </a:prstGeom>
          <a:solidFill>
            <a:schemeClr val="accent1">
              <a:alpha val="760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Präsentationstitel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09A01C0A-2BB6-49E7-91A3-DCB9F9F59583}" type="slidenum">
              <a:rPr lang="de-DE" smtClean="0"/>
              <a:pPr rtl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2001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72A72F24-C2F4-A848-9526-6DDE3032300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44500" y="1460500"/>
            <a:ext cx="5327904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defRPr 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de-DE" noProof="0"/>
              <a:t>Textmasterformat durch Klicken bearbeiten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de-DE" noProof="0"/>
              <a:t>Zweite Ebene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de-DE" noProof="0"/>
              <a:t>Dritte Ebene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de-DE" noProof="0"/>
              <a:t>Vierte Ebene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de-DE" noProof="0"/>
              <a:t>Fünfte Ebene</a:t>
            </a:r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0B5A9DDA-5C61-C94F-9C1E-F412423AF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85AD4069-A096-4332-AB08-5A8166EE76E3}" type="datetime1">
              <a:rPr lang="de-DE" noProof="0" smtClean="0"/>
              <a:t>29.05.2026</a:t>
            </a:fld>
            <a:endParaRPr lang="de-DE" noProof="0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AB9CE1BE-CD51-BD42-A659-2F084EB57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11" name="Foliennummernplatzhalter 5">
            <a:extLst>
              <a:ext uri="{FF2B5EF4-FFF2-40B4-BE49-F238E27FC236}">
                <a16:creationId xmlns:a16="http://schemas.microsoft.com/office/drawing/2014/main" id="{F2707C4E-5419-8141-80B3-E4B112655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de-DE" noProof="0" smtClean="0"/>
              <a:pPr rtl="0"/>
              <a:t>‹Nr.›</a:t>
            </a:fld>
            <a:endParaRPr lang="de-DE" noProof="0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06D362EF-E079-514F-814C-6085176CA7AD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el 1">
            <a:extLst>
              <a:ext uri="{FF2B5EF4-FFF2-40B4-BE49-F238E27FC236}">
                <a16:creationId xmlns:a16="http://schemas.microsoft.com/office/drawing/2014/main" id="{2AC75DAD-32BC-CC41-8DF4-9E68DB31C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8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21112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2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91C010F4-E1E5-354F-9B4A-6253D3DC2F9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036641" y="3044590"/>
            <a:ext cx="4868860" cy="1942138"/>
          </a:xfrm>
          <a:prstGeom prst="rect">
            <a:avLst/>
          </a:prstGeom>
        </p:spPr>
        <p:txBody>
          <a:bodyPr lIns="0" tIns="0" rIns="0" bIns="0" rtlCol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C2F7C8C0-EB32-3C44-930E-DE05403C543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285649" y="3044590"/>
            <a:ext cx="4868860" cy="1942138"/>
          </a:xfrm>
          <a:prstGeom prst="rect">
            <a:avLst/>
          </a:prstGeom>
        </p:spPr>
        <p:txBody>
          <a:bodyPr lIns="0" tIns="0" rIns="0" bIns="0" rtlCol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E06473F2-000A-7C44-9048-A0C0D4B652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de-DE" noProof="0"/>
              <a:t>Zum Bearbeiten klicken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6A0597E-7AE3-F242-9DDF-F678A5E11458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platzhalter 4">
            <a:extLst>
              <a:ext uri="{FF2B5EF4-FFF2-40B4-BE49-F238E27FC236}">
                <a16:creationId xmlns:a16="http://schemas.microsoft.com/office/drawing/2014/main" id="{EAB7162A-656B-3447-976F-951853C325A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1616" y="2328554"/>
            <a:ext cx="4963884" cy="645284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24" name="Textplatzhalter 4">
            <a:extLst>
              <a:ext uri="{FF2B5EF4-FFF2-40B4-BE49-F238E27FC236}">
                <a16:creationId xmlns:a16="http://schemas.microsoft.com/office/drawing/2014/main" id="{C8B98E47-9A5A-E54C-A093-86D516AAD0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8199" y="2328554"/>
            <a:ext cx="4868860" cy="645284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de-DE" noProof="0"/>
              <a:t>Zum Bearbeiten klicken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8E274C5-9C2D-4A46-AEAE-9DBE1C41747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 rtlCol="0"/>
          <a:lstStyle/>
          <a:p>
            <a:pPr rtl="0"/>
            <a:r>
              <a:rPr lang="de-DE" noProof="0"/>
              <a:t>3. September 20xx 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9419017-8DD9-4B28-B0F1-E82FFB8C1DF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 rtlCol="0"/>
          <a:lstStyle/>
          <a:p>
            <a:pPr rtl="0"/>
            <a:r>
              <a:rPr lang="de-DE" noProof="0">
                <a:solidFill>
                  <a:schemeClr val="bg1"/>
                </a:solidFill>
              </a:rPr>
              <a:t>Jahresbericht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A0BFF08-A844-4449-9EC2-5B6B6C2D62A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de-DE" noProof="0" smtClean="0"/>
              <a:pPr rtl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501291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>
          <p15:clr>
            <a:srgbClr val="FBAE40"/>
          </p15:clr>
        </p15:guide>
        <p15:guide id="5" orient="horz" pos="14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infüh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el 1">
            <a:extLst>
              <a:ext uri="{FF2B5EF4-FFF2-40B4-BE49-F238E27FC236}">
                <a16:creationId xmlns:a16="http://schemas.microsoft.com/office/drawing/2014/main" id="{B35C0DBA-B958-984A-8540-551D3604D6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48768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de-DE" noProof="0"/>
              <a:t>Zum Bearbeiten klicken</a:t>
            </a: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0C9ECF50-A899-D84A-8DA7-545D7B1945C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28700" y="2286003"/>
            <a:ext cx="4876800" cy="3568696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 rtl="0"/>
            <a:r>
              <a:rPr lang="de-DE" noProof="0"/>
              <a:t>Zum Bearbeiten klicken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0C23E260-2F88-C54F-893E-80966D14934A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69925"/>
            <a:ext cx="487234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41785DC-164D-344A-8D61-85C59CABEC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54824" y="990600"/>
            <a:ext cx="4837176" cy="4837176"/>
          </a:xfrm>
          <a:prstGeom prst="rect">
            <a:avLst/>
          </a:prstGeo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AE1D3B9-B2D1-4927-BE44-8408FBD84C0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de-DE" noProof="0"/>
              <a:t>3. September 20xx 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7447116-BCE7-456E-88B8-96ADC76E5F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de-DE" noProof="0">
                <a:solidFill>
                  <a:schemeClr val="bg1"/>
                </a:solidFill>
              </a:rPr>
              <a:t>Jahresbericht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D03B6347-A35F-4216-9988-7393E598E1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de-DE" noProof="0" smtClean="0"/>
              <a:pPr rtl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641241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>
          <p15:clr>
            <a:srgbClr val="FBAE40"/>
          </p15:clr>
        </p15:guide>
        <p15:guide id="5" orient="horz" pos="14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517D1E9-5274-1BAB-97AA-EA25F4442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725BD3-C4D2-65DA-9F6B-D2BB487E3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AC83C4-B971-7458-CF86-97411182E0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B4E3E4-533B-4990-BED9-4FC7E69CA1D3}" type="datetimeFigureOut">
              <a:rPr lang="de-DE" smtClean="0"/>
              <a:t>29.05.2026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5F4682-D7C2-C3E8-A128-46A8D49EA9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37A04C-CB39-8227-0FBC-A42F14DF0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3C172A-CADB-4726-B788-14AB453976D7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AD30D80-E6AF-930F-2D78-6C7EECF49F4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35663" y="6642100"/>
            <a:ext cx="3460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intern</a:t>
            </a:r>
          </a:p>
        </p:txBody>
      </p:sp>
    </p:spTree>
    <p:extLst>
      <p:ext uri="{BB962C8B-B14F-4D97-AF65-F5344CB8AC3E}">
        <p14:creationId xmlns:p14="http://schemas.microsoft.com/office/powerpoint/2010/main" val="1456307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microsoft.com/office/2007/relationships/hdphoto" Target="../media/hdphoto3.wdp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extranet.thuega.de/media/thuega/v10netze_150046699/v10netzbetrieb_und_einspeisung_150046996/v10netzbetrieb_strom_150053577/planungsgrundsaetze/20230301_Planungsgrundsaetze_fuer_Stromverteilnetze_3.0.pdf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2.png"/><Relationship Id="rId4" Type="http://schemas.openxmlformats.org/officeDocument/2006/relationships/hyperlink" Target="https://bnnetze.envelio.de/docs/de/01-documentation/01-general/01-calculation-principles/01-analysis/04-group-coincidence-factors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5" r="15045"/>
          <a:stretch/>
        </p:blipFill>
        <p:spPr/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0218887-E939-2AFD-0BC9-3B648D57D59A}"/>
              </a:ext>
            </a:extLst>
          </p:cNvPr>
          <p:cNvSpPr txBox="1"/>
          <p:nvPr/>
        </p:nvSpPr>
        <p:spPr>
          <a:xfrm>
            <a:off x="206733" y="1533464"/>
            <a:ext cx="65788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Berechnungsmodell zur Lastabschätzung </a:t>
            </a:r>
          </a:p>
          <a:p>
            <a:pPr algn="ctr"/>
            <a:r>
              <a:rPr lang="de-DE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 Neubaugebieten</a:t>
            </a:r>
          </a:p>
          <a:p>
            <a:pPr algn="ctr"/>
            <a:endParaRPr lang="de-DE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algn="ctr"/>
            <a:endParaRPr lang="de-DE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algn="ctr"/>
            <a:endParaRPr lang="de-DE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algn="ctr"/>
            <a:endParaRPr lang="de-DE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Bildplatzhalter 11" descr="Nahaufnahme von Wolkenkratzern">
            <a:extLst>
              <a:ext uri="{FF2B5EF4-FFF2-40B4-BE49-F238E27FC236}">
                <a16:creationId xmlns:a16="http://schemas.microsoft.com/office/drawing/2014/main" id="{02CB0A40-C392-7AEB-F580-EA0981B3CBE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saturation sat="0"/>
                    </a14:imgEffect>
                    <a14:imgEffect>
                      <a14:brightnessContrast bright="26000" contrast="-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blipFill dpi="0" rotWithShape="1">
            <a:blip r:embed="rId5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47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b="124"/>
            </a:stretch>
          </a:blipFill>
        </p:spPr>
      </p:pic>
      <p:sp>
        <p:nvSpPr>
          <p:cNvPr id="21" name="Inhaltsplatzhalter 20">
            <a:extLst>
              <a:ext uri="{FF2B5EF4-FFF2-40B4-BE49-F238E27FC236}">
                <a16:creationId xmlns:a16="http://schemas.microsoft.com/office/drawing/2014/main" id="{A50CB90F-9D48-F8DD-961F-C3F1AE2B2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  <a:p>
            <a:pPr rtl="0"/>
            <a:endParaRPr lang="de-DE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D15BEAD-012C-AF1F-9EBB-243A511C9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107" y="638594"/>
            <a:ext cx="2743200" cy="1336433"/>
          </a:xfrm>
          <a:prstGeom prst="rect">
            <a:avLst/>
          </a:prstGeom>
          <a:solidFill>
            <a:srgbClr val="4A5EE6">
              <a:alpha val="87843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>
              <a:solidFill>
                <a:schemeClr val="accent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D578531-1E9F-3E5A-7A85-E9CA9A5C7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072" y="2918445"/>
            <a:ext cx="251791" cy="2071501"/>
          </a:xfrm>
          <a:prstGeom prst="rect">
            <a:avLst/>
          </a:prstGeom>
          <a:solidFill>
            <a:srgbClr val="4A5EE6">
              <a:alpha val="76078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>
              <a:solidFill>
                <a:schemeClr val="accent1"/>
              </a:solidFill>
            </a:endParaRPr>
          </a:p>
        </p:txBody>
      </p:sp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15683684-8A4D-DC98-AAF9-29BF03F30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057977"/>
              </p:ext>
            </p:extLst>
          </p:nvPr>
        </p:nvGraphicFramePr>
        <p:xfrm>
          <a:off x="6629991" y="2782626"/>
          <a:ext cx="4966976" cy="3170545"/>
        </p:xfrm>
        <a:graphic>
          <a:graphicData uri="http://schemas.openxmlformats.org/drawingml/2006/table">
            <a:tbl>
              <a:tblPr/>
              <a:tblGrid>
                <a:gridCol w="2483488">
                  <a:extLst>
                    <a:ext uri="{9D8B030D-6E8A-4147-A177-3AD203B41FA5}">
                      <a16:colId xmlns:a16="http://schemas.microsoft.com/office/drawing/2014/main" val="4191704212"/>
                    </a:ext>
                  </a:extLst>
                </a:gridCol>
                <a:gridCol w="2483488">
                  <a:extLst>
                    <a:ext uri="{9D8B030D-6E8A-4147-A177-3AD203B41FA5}">
                      <a16:colId xmlns:a16="http://schemas.microsoft.com/office/drawing/2014/main" val="3839257417"/>
                    </a:ext>
                  </a:extLst>
                </a:gridCol>
              </a:tblGrid>
              <a:tr h="3170545"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nn-NO" sz="1800" dirty="0">
                          <a:effectLst/>
                        </a:rPr>
                        <a:t>160 kVA</a:t>
                      </a:r>
                    </a:p>
                    <a:p>
                      <a:pPr>
                        <a:spcAft>
                          <a:spcPts val="1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nn-NO" sz="1800" dirty="0">
                          <a:effectLst/>
                        </a:rPr>
                        <a:t>250 kVA</a:t>
                      </a:r>
                    </a:p>
                    <a:p>
                      <a:pPr>
                        <a:spcAft>
                          <a:spcPts val="1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nn-NO" sz="1800" dirty="0">
                          <a:effectLst/>
                        </a:rPr>
                        <a:t>400 kVA</a:t>
                      </a:r>
                    </a:p>
                    <a:p>
                      <a:pPr>
                        <a:spcAft>
                          <a:spcPts val="1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nn-NO" sz="1800" dirty="0">
                          <a:effectLst/>
                        </a:rPr>
                        <a:t>630 kVA</a:t>
                      </a:r>
                    </a:p>
                    <a:p>
                      <a:pPr>
                        <a:spcAft>
                          <a:spcPts val="1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nn-NO" sz="1800" dirty="0">
                          <a:effectLst/>
                        </a:rPr>
                        <a:t>800 kVA</a:t>
                      </a:r>
                    </a:p>
                  </a:txBody>
                  <a:tcPr marL="90044" marR="90044" marT="45022" marB="45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nn-NO" sz="1800" dirty="0">
                          <a:effectLst/>
                        </a:rPr>
                        <a:t>1000 kVA</a:t>
                      </a:r>
                    </a:p>
                    <a:p>
                      <a:pPr>
                        <a:spcAft>
                          <a:spcPts val="1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nn-NO" sz="1800" dirty="0">
                          <a:effectLst/>
                        </a:rPr>
                        <a:t>1250 kVA</a:t>
                      </a:r>
                    </a:p>
                    <a:p>
                      <a:pPr>
                        <a:spcAft>
                          <a:spcPts val="1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nn-NO" sz="1800" dirty="0">
                          <a:effectLst/>
                        </a:rPr>
                        <a:t>1600 kVA</a:t>
                      </a:r>
                    </a:p>
                    <a:p>
                      <a:pPr>
                        <a:spcAft>
                          <a:spcPts val="1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nn-NO" sz="1800" dirty="0">
                          <a:effectLst/>
                        </a:rPr>
                        <a:t>2000 kVA</a:t>
                      </a:r>
                    </a:p>
                    <a:p>
                      <a:pPr>
                        <a:spcAft>
                          <a:spcPts val="1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nn-NO" sz="1800" dirty="0">
                          <a:effectLst/>
                        </a:rPr>
                        <a:t>2500 kVA</a:t>
                      </a:r>
                    </a:p>
                  </a:txBody>
                  <a:tcPr marL="90044" marR="90044" marT="45022" marB="450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49001"/>
                  </a:ext>
                </a:extLst>
              </a:tr>
            </a:tbl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5CDCC214-1F6C-AAD0-ACF1-C1C0C8700AB1}"/>
              </a:ext>
            </a:extLst>
          </p:cNvPr>
          <p:cNvSpPr txBox="1"/>
          <p:nvPr/>
        </p:nvSpPr>
        <p:spPr>
          <a:xfrm>
            <a:off x="6096000" y="1859318"/>
            <a:ext cx="60946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0"/>
              </a:spcBef>
              <a:spcAft>
                <a:spcPts val="1500"/>
              </a:spcAft>
              <a:buNone/>
            </a:pPr>
            <a:r>
              <a:rPr lang="de-DE" sz="2400" i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Neue"/>
              </a:rPr>
              <a:t>Welche Leistung soll die Trafostation bzw. der Transformator haben?</a:t>
            </a:r>
          </a:p>
        </p:txBody>
      </p:sp>
    </p:spTree>
    <p:extLst>
      <p:ext uri="{BB962C8B-B14F-4D97-AF65-F5344CB8AC3E}">
        <p14:creationId xmlns:p14="http://schemas.microsoft.com/office/powerpoint/2010/main" val="3171735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e 7">
            <a:extLst>
              <a:ext uri="{FF2B5EF4-FFF2-40B4-BE49-F238E27FC236}">
                <a16:creationId xmlns:a16="http://schemas.microsoft.com/office/drawing/2014/main" id="{AF0DE047-1B7D-F942-8E09-3EFF699BE9A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69114405"/>
              </p:ext>
            </p:extLst>
          </p:nvPr>
        </p:nvGraphicFramePr>
        <p:xfrm>
          <a:off x="5450958" y="201928"/>
          <a:ext cx="5862085" cy="6217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0257">
                  <a:extLst>
                    <a:ext uri="{9D8B030D-6E8A-4147-A177-3AD203B41FA5}">
                      <a16:colId xmlns:a16="http://schemas.microsoft.com/office/drawing/2014/main" val="2918303207"/>
                    </a:ext>
                  </a:extLst>
                </a:gridCol>
                <a:gridCol w="3961828">
                  <a:extLst>
                    <a:ext uri="{9D8B030D-6E8A-4147-A177-3AD203B41FA5}">
                      <a16:colId xmlns:a16="http://schemas.microsoft.com/office/drawing/2014/main" val="1189393465"/>
                    </a:ext>
                  </a:extLst>
                </a:gridCol>
              </a:tblGrid>
              <a:tr h="1188720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endParaRPr lang="de-DE" b="1" i="0" spc="300" dirty="0">
                        <a:latin typeface="Arial Black" panose="020B0604020202020204" pitchFamily="34" charset="0"/>
                        <a:cs typeface="Arial Black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de-DE"/>
                      </a:pPr>
                      <a:r>
                        <a:rPr lang="de-DE" b="1" dirty="0"/>
                        <a:t>Python-basierte Streamlit-Tool </a:t>
                      </a:r>
                      <a:r>
                        <a:rPr lang="de-DE" dirty="0"/>
                        <a:t>mit standardisierten Lastabschätzung für </a:t>
                      </a:r>
                      <a:r>
                        <a:rPr lang="de-DE" b="1" dirty="0"/>
                        <a:t>Neubaugebiete</a:t>
                      </a:r>
                      <a:r>
                        <a:rPr lang="de-DE" dirty="0"/>
                        <a:t> </a:t>
                      </a:r>
                      <a:endParaRPr lang="de-DE" b="1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2157666"/>
                  </a:ext>
                </a:extLst>
              </a:tr>
              <a:tr h="1188720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endParaRPr lang="de-DE" b="1" i="0" spc="300" dirty="0">
                        <a:latin typeface="Arial Black" panose="020B0604020202020204" pitchFamily="34" charset="0"/>
                        <a:cs typeface="Arial Black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de-DE"/>
                      </a:pPr>
                      <a:r>
                        <a:rPr lang="de-DE" dirty="0"/>
                        <a:t>Berechnung erfolgt auf Basis von </a:t>
                      </a:r>
                      <a:r>
                        <a:rPr lang="de-DE" b="1" dirty="0"/>
                        <a:t>Gebietstyp</a:t>
                      </a:r>
                      <a:r>
                        <a:rPr lang="de-DE" dirty="0"/>
                        <a:t>, </a:t>
                      </a:r>
                      <a:r>
                        <a:rPr lang="de-DE" b="1" dirty="0"/>
                        <a:t>Siedlungsstruktu</a:t>
                      </a:r>
                      <a:r>
                        <a:rPr lang="de-DE" dirty="0"/>
                        <a:t>r sowie </a:t>
                      </a:r>
                      <a:r>
                        <a:rPr lang="de-DE" b="1" dirty="0"/>
                        <a:t>Verbrauchergruppen</a:t>
                      </a:r>
                      <a:r>
                        <a:rPr lang="de-DE" dirty="0"/>
                        <a:t> und </a:t>
                      </a:r>
                      <a:r>
                        <a:rPr lang="de-DE" b="1" dirty="0"/>
                        <a:t>Einspeisern.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de-DE"/>
                      </a:pPr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3334722"/>
                  </a:ext>
                </a:extLst>
              </a:tr>
              <a:tr h="1188720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endParaRPr lang="de-DE" b="1" i="0" dirty="0">
                        <a:latin typeface="Arial Black" panose="020B0604020202020204" pitchFamily="34" charset="0"/>
                        <a:cs typeface="Arial Black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de-DE"/>
                      </a:pPr>
                      <a:r>
                        <a:rPr lang="de-DE" b="1" dirty="0"/>
                        <a:t>Quellcode</a:t>
                      </a:r>
                      <a:r>
                        <a:rPr lang="de-DE" dirty="0"/>
                        <a:t> wird über </a:t>
                      </a:r>
                      <a:r>
                        <a:rPr lang="de-DE" b="1" dirty="0"/>
                        <a:t>GitHub</a:t>
                      </a:r>
                      <a:r>
                        <a:rPr lang="de-DE" dirty="0"/>
                        <a:t> bereitgestellt und kann flexibel angepasst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7403263"/>
                  </a:ext>
                </a:extLst>
              </a:tr>
              <a:tr h="1188720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endParaRPr lang="de-DE" b="1" i="0" spc="300" dirty="0">
                        <a:latin typeface="Arial Black" panose="020B0604020202020204" pitchFamily="34" charset="0"/>
                        <a:cs typeface="Arial Black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de-DE"/>
                      </a:pPr>
                      <a:r>
                        <a:rPr lang="de-DE" b="0" i="0" dirty="0">
                          <a:latin typeface="Avenir Next LT Pro" panose="020B0504020202020204" pitchFamily="34" charset="77"/>
                        </a:rPr>
                        <a:t>Verfügbare </a:t>
                      </a:r>
                      <a:r>
                        <a:rPr lang="de-DE" b="1" i="0" dirty="0">
                          <a:latin typeface="Avenir Next LT Pro" panose="020B0504020202020204" pitchFamily="34" charset="77"/>
                        </a:rPr>
                        <a:t>Dokumentation und </a:t>
                      </a:r>
                      <a:r>
                        <a:rPr lang="de-DE" b="1" dirty="0"/>
                        <a:t>Bereitstellung </a:t>
                      </a:r>
                      <a:r>
                        <a:rPr lang="de-DE" dirty="0"/>
                        <a:t>des Tools </a:t>
                      </a:r>
                      <a:endParaRPr lang="de-DE" b="1" i="0" dirty="0">
                        <a:latin typeface="Avenir Next LT Pro" panose="020B0504020202020204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0924858"/>
                  </a:ext>
                </a:extLst>
              </a:tr>
              <a:tr h="1188720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endParaRPr lang="de-DE" b="1" i="0" dirty="0">
                        <a:latin typeface="Arial Black" panose="020B0604020202020204" pitchFamily="34" charset="0"/>
                        <a:cs typeface="Arial Black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de-DE"/>
                      </a:pPr>
                      <a:r>
                        <a:rPr lang="de-DE" dirty="0"/>
                        <a:t>Editierbare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136017"/>
                  </a:ext>
                </a:extLst>
              </a:tr>
            </a:tbl>
          </a:graphicData>
        </a:graphic>
      </p:graphicFrame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85384B4-F5D2-6521-EDF6-AAF2511DE1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09A01C0A-2BB6-49E7-91A3-DCB9F9F59583}" type="slidenum">
              <a:rPr lang="de-DE" smtClean="0"/>
              <a:pPr rtl="0"/>
              <a:t>3</a:t>
            </a:fld>
            <a:endParaRPr lang="de-DE" dirty="0"/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25138D39-DE26-CACA-E17F-0D30E82AA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52640" y="381000"/>
            <a:ext cx="0" cy="6038848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Ellipse 14">
            <a:extLst>
              <a:ext uri="{FF2B5EF4-FFF2-40B4-BE49-F238E27FC236}">
                <a16:creationId xmlns:a16="http://schemas.microsoft.com/office/drawing/2014/main" id="{FA3D4B50-54D0-CA63-02B8-46F00CBD0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51405" y="913958"/>
            <a:ext cx="202470" cy="2024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>
              <a:solidFill>
                <a:schemeClr val="accent1"/>
              </a:solidFill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A998E0FB-F056-814D-0480-795EEC9C9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51405" y="2096896"/>
            <a:ext cx="202470" cy="2024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>
              <a:solidFill>
                <a:schemeClr val="accent1"/>
              </a:solidFill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6D179EA3-9F21-20F9-B3EF-80C1C9318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51405" y="3279834"/>
            <a:ext cx="202470" cy="2024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>
              <a:solidFill>
                <a:schemeClr val="accent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2C6B5CE2-4CD6-EA8F-61E1-8184FC066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51405" y="4462772"/>
            <a:ext cx="202470" cy="2024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>
              <a:solidFill>
                <a:schemeClr val="accent1"/>
              </a:solidFill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E3133598-58B4-2425-DC83-FAABE13E0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51405" y="5645710"/>
            <a:ext cx="202470" cy="2024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658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52285-1F33-7A59-7894-FAF5DEFE5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12C30-7AE9-4906-8F16-59AECDA5A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/>
          <a:p>
            <a:r>
              <a:rPr lang="de-DE" b="1" dirty="0">
                <a:solidFill>
                  <a:srgbClr val="00206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Unterschiedliche Parameter</a:t>
            </a:r>
            <a:endParaRPr lang="de-DE" b="1" dirty="0"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416F94F-4025-CDAF-420C-00EBC65115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43" b="10340"/>
          <a:stretch>
            <a:fillRect/>
          </a:stretch>
        </p:blipFill>
        <p:spPr>
          <a:xfrm>
            <a:off x="793879" y="1444103"/>
            <a:ext cx="10287000" cy="509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96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84A840E-9000-7441-BEB7-FFEE48A4F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dirty="0"/>
              <a:t>Gebietseinfluss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8529241-5517-094D-8365-77164D736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2034" y="2138403"/>
            <a:ext cx="10847932" cy="1942138"/>
          </a:xfrm>
        </p:spPr>
        <p:txBody>
          <a:bodyPr rtlCol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de-DE" sz="2000" dirty="0"/>
              <a:t>Für Misch- und Gewerbegebiete sind zusätzlich die entsprechenden Gewerbeeinheiten und deren spezifische Lasten zu berücksichtigen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000" dirty="0"/>
              <a:t>Der Gebietstyp beeinflusst den Gleichzeitigkeitsfaktor in der Regel nur geringfügig. Für eine grobe Abschätzung können daher allgemeine Gleichzeitigkeitsfunktionen für verschiedene Verbrauchergruppen verwendet werden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7AD1E5F-3782-4812-98F3-60BDB803DB7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298180" y="6294120"/>
            <a:ext cx="1462788" cy="182880"/>
          </a:xfrm>
        </p:spPr>
        <p:txBody>
          <a:bodyPr rtlCol="0"/>
          <a:lstStyle/>
          <a:p>
            <a:pPr rtl="0"/>
            <a:r>
              <a:rPr lang="de-DE">
                <a:solidFill>
                  <a:schemeClr val="bg1"/>
                </a:solidFill>
              </a:rPr>
              <a:t>Jahresbericht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EA07C02-54FF-4B71-8E0D-7F4BCFC6A69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493500" y="6292334"/>
            <a:ext cx="412750" cy="182880"/>
          </a:xfrm>
        </p:spPr>
        <p:txBody>
          <a:bodyPr rtlCol="0"/>
          <a:lstStyle/>
          <a:p>
            <a:pPr rtl="0"/>
            <a:fld id="{7782931A-7D25-4B4B-9464-57AE418934A3}" type="slidenum">
              <a:rPr lang="de-DE" smtClean="0"/>
              <a:pPr rtl="0"/>
              <a:t>5</a:t>
            </a:fld>
            <a:endParaRPr lang="de-DE"/>
          </a:p>
        </p:txBody>
      </p:sp>
      <p:sp>
        <p:nvSpPr>
          <p:cNvPr id="11" name="Datumsplatzhalter 5">
            <a:extLst>
              <a:ext uri="{FF2B5EF4-FFF2-40B4-BE49-F238E27FC236}">
                <a16:creationId xmlns:a16="http://schemas.microsoft.com/office/drawing/2014/main" id="{B62749D6-BD44-4041-9930-E5BC7A704D46}"/>
              </a:ext>
            </a:extLst>
          </p:cNvPr>
          <p:cNvSpPr txBox="1">
            <a:spLocks/>
          </p:cNvSpPr>
          <p:nvPr/>
        </p:nvSpPr>
        <p:spPr>
          <a:xfrm>
            <a:off x="9830818" y="6292334"/>
            <a:ext cx="1522982" cy="182880"/>
          </a:xfrm>
          <a:prstGeom prst="rect">
            <a:avLst/>
          </a:prstGeom>
        </p:spPr>
        <p:txBody>
          <a:bodyPr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de-DE" sz="1200">
                <a:solidFill>
                  <a:schemeClr val="bg1"/>
                </a:solidFill>
              </a:rPr>
              <a:t>3. September 20xx 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2982D95-61F1-06D1-81D0-56011B9D0F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6" t="6985" r="1902" b="5005"/>
          <a:stretch>
            <a:fillRect/>
          </a:stretch>
        </p:blipFill>
        <p:spPr>
          <a:xfrm>
            <a:off x="1028700" y="4439679"/>
            <a:ext cx="9148278" cy="185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18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7E19FF-DAD9-4AB4-9D83-993EE9FE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/>
          <a:p>
            <a:pPr rtl="0"/>
            <a:r>
              <a:rPr lang="de-DE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Annahmen E-Fahrzeuganzahl</a:t>
            </a:r>
          </a:p>
        </p:txBody>
      </p:sp>
      <p:sp>
        <p:nvSpPr>
          <p:cNvPr id="40" name="Ellipse 39" descr="Kleiner Kreis">
            <a:extLst>
              <a:ext uri="{FF2B5EF4-FFF2-40B4-BE49-F238E27FC236}">
                <a16:creationId xmlns:a16="http://schemas.microsoft.com/office/drawing/2014/main" id="{0C3A28BB-9675-8648-9563-A663628F48F5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530197" y="1503788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/>
          </a:p>
        </p:txBody>
      </p:sp>
      <p:sp>
        <p:nvSpPr>
          <p:cNvPr id="41" name="Textfeld 40" descr="Nummer 1">
            <a:extLst>
              <a:ext uri="{FF2B5EF4-FFF2-40B4-BE49-F238E27FC236}">
                <a16:creationId xmlns:a16="http://schemas.microsoft.com/office/drawing/2014/main" id="{516D502C-EEB8-7641-9141-D6049BAE3252}"/>
              </a:ext>
            </a:extLst>
          </p:cNvPr>
          <p:cNvSpPr txBox="1">
            <a:spLocks noChangeAspect="1"/>
          </p:cNvSpPr>
          <p:nvPr/>
        </p:nvSpPr>
        <p:spPr bwMode="blackWhite">
          <a:xfrm>
            <a:off x="457571" y="1520182"/>
            <a:ext cx="55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de-DE">
                <a:solidFill>
                  <a:schemeClr val="bg1"/>
                </a:solidFill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43" name="Ellipse 42" descr="Kleiner Kreis">
            <a:extLst>
              <a:ext uri="{FF2B5EF4-FFF2-40B4-BE49-F238E27FC236}">
                <a16:creationId xmlns:a16="http://schemas.microsoft.com/office/drawing/2014/main" id="{E3BF4CBA-96D8-844A-846E-482C93C4A9BA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545937" y="2209685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sp>
        <p:nvSpPr>
          <p:cNvPr id="44" name="Textfeld 43" descr="Nummer 2">
            <a:extLst>
              <a:ext uri="{FF2B5EF4-FFF2-40B4-BE49-F238E27FC236}">
                <a16:creationId xmlns:a16="http://schemas.microsoft.com/office/drawing/2014/main" id="{4EE65486-1766-B74A-9043-DE141DDF4363}"/>
              </a:ext>
            </a:extLst>
          </p:cNvPr>
          <p:cNvSpPr txBox="1">
            <a:spLocks noChangeAspect="1"/>
          </p:cNvSpPr>
          <p:nvPr/>
        </p:nvSpPr>
        <p:spPr bwMode="blackWhite">
          <a:xfrm>
            <a:off x="496027" y="2209685"/>
            <a:ext cx="493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de-DE" dirty="0">
                <a:solidFill>
                  <a:schemeClr val="bg1"/>
                </a:solidFill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51" name="Inhaltsplatzhalter 7">
            <a:extLst>
              <a:ext uri="{FF2B5EF4-FFF2-40B4-BE49-F238E27FC236}">
                <a16:creationId xmlns:a16="http://schemas.microsoft.com/office/drawing/2014/main" id="{A6D40621-9F60-B248-A84C-7DCBF898D4DB}"/>
              </a:ext>
            </a:extLst>
          </p:cNvPr>
          <p:cNvSpPr txBox="1">
            <a:spLocks/>
          </p:cNvSpPr>
          <p:nvPr/>
        </p:nvSpPr>
        <p:spPr>
          <a:xfrm>
            <a:off x="1039854" y="1509612"/>
            <a:ext cx="10123777" cy="3652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600" dirty="0"/>
              <a:t>Die Anzahl der E-Fahrzeuge wird zunächst automatisch anhand der gewählten Cluster parametrisiert.</a:t>
            </a:r>
          </a:p>
          <a:p>
            <a:pPr marL="0" indent="0">
              <a:buNone/>
            </a:pPr>
            <a:endParaRPr lang="de-DE" sz="1600" dirty="0"/>
          </a:p>
          <a:p>
            <a:pPr marL="0" indent="0">
              <a:buNone/>
            </a:pPr>
            <a:r>
              <a:rPr lang="de-DE" sz="1600" dirty="0"/>
              <a:t>Die berechneten Werte können anschließend individuell angepasst werden</a:t>
            </a:r>
            <a:r>
              <a:rPr lang="de-DE" sz="1600" dirty="0">
                <a:solidFill>
                  <a:schemeClr val="tx1"/>
                </a:solidFill>
              </a:rPr>
              <a:t>(Editierbares Feld)</a:t>
            </a:r>
            <a:endParaRPr lang="de-DE" sz="16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05C7A70-03A3-E133-2759-9235F89977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87" t="37650" r="10513"/>
          <a:stretch>
            <a:fillRect/>
          </a:stretch>
        </p:blipFill>
        <p:spPr>
          <a:xfrm>
            <a:off x="444500" y="3872204"/>
            <a:ext cx="6805386" cy="1951399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061EFDE8-7759-7DE7-4FE4-5D1755037648}"/>
              </a:ext>
            </a:extLst>
          </p:cNvPr>
          <p:cNvSpPr txBox="1"/>
          <p:nvPr/>
        </p:nvSpPr>
        <p:spPr>
          <a:xfrm>
            <a:off x="609967" y="6291751"/>
            <a:ext cx="609734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u="sng" dirty="0">
                <a:solidFill>
                  <a:srgbClr val="92D050"/>
                </a:solidFill>
              </a:rPr>
              <a:t>Quelle: VDE FNN, Netzintegration Elektromobilität, 2023</a:t>
            </a:r>
          </a:p>
        </p:txBody>
      </p:sp>
    </p:spTree>
    <p:extLst>
      <p:ext uri="{BB962C8B-B14F-4D97-AF65-F5344CB8AC3E}">
        <p14:creationId xmlns:p14="http://schemas.microsoft.com/office/powerpoint/2010/main" val="4052214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l="50000" t="3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E966EE-4FBD-534E-AAED-6C54465EF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de-DE" dirty="0"/>
              <a:t>Wärmepumpe Anteil, berechnen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DE5F9E-39DA-49B7-8AA0-FF8E2B15DE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93500" y="6292334"/>
            <a:ext cx="412750" cy="182880"/>
          </a:xfrm>
        </p:spPr>
        <p:txBody>
          <a:bodyPr rtlCol="0"/>
          <a:lstStyle/>
          <a:p>
            <a:pPr rtl="0"/>
            <a:fld id="{7782931A-7D25-4B4B-9464-57AE418934A3}" type="slidenum">
              <a:rPr lang="de-DE" smtClean="0"/>
              <a:pPr rtl="0"/>
              <a:t>7</a:t>
            </a:fld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CE60A618-A6C7-859C-4439-B45689E8F9B5}"/>
              </a:ext>
            </a:extLst>
          </p:cNvPr>
          <p:cNvSpPr txBox="1"/>
          <p:nvPr/>
        </p:nvSpPr>
        <p:spPr>
          <a:xfrm>
            <a:off x="328945" y="2505670"/>
            <a:ext cx="53383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Abhängig von verschiedenen Gebäudeclustern lässt sich der Anteil von Wärmepumpen innerhalb des betrachteten Gebietes bestimmen</a:t>
            </a:r>
          </a:p>
        </p:txBody>
      </p:sp>
      <p:pic>
        <p:nvPicPr>
          <p:cNvPr id="13" name="Inhaltsplatzhalter 12">
            <a:extLst>
              <a:ext uri="{FF2B5EF4-FFF2-40B4-BE49-F238E27FC236}">
                <a16:creationId xmlns:a16="http://schemas.microsoft.com/office/drawing/2014/main" id="{D3874D19-8D68-A11C-5F00-4F20339C62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r="55934"/>
          <a:stretch>
            <a:fillRect/>
          </a:stretch>
        </p:blipFill>
        <p:spPr>
          <a:xfrm>
            <a:off x="6567439" y="381000"/>
            <a:ext cx="5338306" cy="473316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1969867-D0B5-F76F-B9DD-E1234E43DC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28" t="23154" r="6974" b="5529"/>
          <a:stretch>
            <a:fillRect/>
          </a:stretch>
        </p:blipFill>
        <p:spPr>
          <a:xfrm>
            <a:off x="399336" y="3687062"/>
            <a:ext cx="5267915" cy="183028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5E7C6176-E368-9B48-D11B-0CE9E029E250}"/>
              </a:ext>
            </a:extLst>
          </p:cNvPr>
          <p:cNvSpPr txBox="1"/>
          <p:nvPr/>
        </p:nvSpPr>
        <p:spPr>
          <a:xfrm>
            <a:off x="285750" y="6459484"/>
            <a:ext cx="609734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hlinkClick r:id="rId6"/>
              </a:rPr>
              <a:t>20230301_Planungsgrundsätze für Stromverteilnetze 3.0</a:t>
            </a:r>
            <a:endParaRPr lang="de-DE" sz="1050" dirty="0"/>
          </a:p>
        </p:txBody>
      </p:sp>
    </p:spTree>
    <p:extLst>
      <p:ext uri="{BB962C8B-B14F-4D97-AF65-F5344CB8AC3E}">
        <p14:creationId xmlns:p14="http://schemas.microsoft.com/office/powerpoint/2010/main" val="4017832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3A2A1-72D0-F409-2553-DC5C14F94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C77F0AA-71F6-1AB0-EC8E-6B4921A4C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1086134"/>
            <a:ext cx="10223500" cy="645284"/>
          </a:xfrm>
        </p:spPr>
        <p:txBody>
          <a:bodyPr rtlCol="0">
            <a:normAutofit fontScale="90000"/>
          </a:bodyPr>
          <a:lstStyle/>
          <a:p>
            <a:pPr rtl="0"/>
            <a:r>
              <a:rPr lang="de-DE" dirty="0"/>
              <a:t>Grundlast Annahmen und Gleichzeitigkeitsfaktor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79D8CE-E33D-3AD6-BE42-36767BC9E95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676945" y="2138521"/>
            <a:ext cx="4705258" cy="1942138"/>
          </a:xfrm>
        </p:spPr>
        <p:txBody>
          <a:bodyPr rtlCol="0"/>
          <a:lstStyle/>
          <a:p>
            <a:pPr>
              <a:buFont typeface="Arial" panose="020B0604020202020204" pitchFamily="34" charset="0"/>
              <a:buChar char="•"/>
            </a:pPr>
            <a:endParaRPr lang="de-DE" dirty="0"/>
          </a:p>
          <a:p>
            <a:pPr marL="0" indent="0" rtl="0">
              <a:buNone/>
            </a:pPr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47D57E3-CA66-299A-D3FD-B7870BF21A3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298180" y="6294120"/>
            <a:ext cx="1462788" cy="182880"/>
          </a:xfrm>
        </p:spPr>
        <p:txBody>
          <a:bodyPr rtlCol="0"/>
          <a:lstStyle/>
          <a:p>
            <a:pPr rtl="0"/>
            <a:r>
              <a:rPr lang="de-DE">
                <a:solidFill>
                  <a:schemeClr val="bg1"/>
                </a:solidFill>
              </a:rPr>
              <a:t>Jahresbericht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93B01FA-BDAE-50FB-604F-C435D3F08B2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493500" y="6292334"/>
            <a:ext cx="412750" cy="182880"/>
          </a:xfrm>
        </p:spPr>
        <p:txBody>
          <a:bodyPr rtlCol="0"/>
          <a:lstStyle/>
          <a:p>
            <a:pPr rtl="0"/>
            <a:fld id="{7782931A-7D25-4B4B-9464-57AE418934A3}" type="slidenum">
              <a:rPr lang="de-DE" smtClean="0"/>
              <a:pPr rtl="0"/>
              <a:t>8</a:t>
            </a:fld>
            <a:endParaRPr lang="de-DE"/>
          </a:p>
        </p:txBody>
      </p:sp>
      <p:sp>
        <p:nvSpPr>
          <p:cNvPr id="11" name="Datumsplatzhalter 5">
            <a:extLst>
              <a:ext uri="{FF2B5EF4-FFF2-40B4-BE49-F238E27FC236}">
                <a16:creationId xmlns:a16="http://schemas.microsoft.com/office/drawing/2014/main" id="{588C297D-7B76-D98E-84A9-9345A8CC986C}"/>
              </a:ext>
            </a:extLst>
          </p:cNvPr>
          <p:cNvSpPr txBox="1">
            <a:spLocks/>
          </p:cNvSpPr>
          <p:nvPr/>
        </p:nvSpPr>
        <p:spPr>
          <a:xfrm>
            <a:off x="9830818" y="6292334"/>
            <a:ext cx="1522982" cy="182880"/>
          </a:xfrm>
          <a:prstGeom prst="rect">
            <a:avLst/>
          </a:prstGeom>
        </p:spPr>
        <p:txBody>
          <a:bodyPr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de-DE" sz="1200">
                <a:solidFill>
                  <a:schemeClr val="bg1"/>
                </a:solidFill>
              </a:rPr>
              <a:t>3. September 20xx </a:t>
            </a:r>
          </a:p>
        </p:txBody>
      </p:sp>
      <p:sp>
        <p:nvSpPr>
          <p:cNvPr id="5" name="Textplatzhalter 170">
            <a:extLst>
              <a:ext uri="{FF2B5EF4-FFF2-40B4-BE49-F238E27FC236}">
                <a16:creationId xmlns:a16="http://schemas.microsoft.com/office/drawing/2014/main" id="{AD0F2DF8-2E8A-EB10-B4D3-247543A04C9E}"/>
              </a:ext>
            </a:extLst>
          </p:cNvPr>
          <p:cNvSpPr>
            <a:spLocks noGrp="1"/>
          </p:cNvSpPr>
          <p:nvPr/>
        </p:nvSpPr>
        <p:spPr>
          <a:xfrm>
            <a:off x="1042817" y="2260580"/>
            <a:ext cx="1868556" cy="5708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1" kern="1200" cap="all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/>
            <a:r>
              <a:rPr lang="de-DE" sz="800" dirty="0"/>
              <a:t>Haushalt</a:t>
            </a:r>
            <a:endParaRPr lang="de-DE" sz="800" noProof="0" dirty="0"/>
          </a:p>
        </p:txBody>
      </p:sp>
      <p:sp>
        <p:nvSpPr>
          <p:cNvPr id="6" name="Textplatzhalter 170">
            <a:extLst>
              <a:ext uri="{FF2B5EF4-FFF2-40B4-BE49-F238E27FC236}">
                <a16:creationId xmlns:a16="http://schemas.microsoft.com/office/drawing/2014/main" id="{AD0F2DF8-2E8A-EB10-B4D3-247543A04C9E}"/>
              </a:ext>
            </a:extLst>
          </p:cNvPr>
          <p:cNvSpPr>
            <a:spLocks noGrp="1"/>
          </p:cNvSpPr>
          <p:nvPr/>
        </p:nvSpPr>
        <p:spPr>
          <a:xfrm>
            <a:off x="1042817" y="3455765"/>
            <a:ext cx="1869219" cy="5708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1" kern="1200" cap="all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/>
            <a:r>
              <a:rPr lang="de-DE" sz="800" noProof="0" dirty="0"/>
              <a:t>Wärmepumpe</a:t>
            </a:r>
          </a:p>
        </p:txBody>
      </p:sp>
      <p:sp>
        <p:nvSpPr>
          <p:cNvPr id="10" name="Textplatzhalter 170">
            <a:extLst>
              <a:ext uri="{FF2B5EF4-FFF2-40B4-BE49-F238E27FC236}">
                <a16:creationId xmlns:a16="http://schemas.microsoft.com/office/drawing/2014/main" id="{AD0F2DF8-2E8A-EB10-B4D3-247543A04C9E}"/>
              </a:ext>
            </a:extLst>
          </p:cNvPr>
          <p:cNvSpPr>
            <a:spLocks noGrp="1"/>
          </p:cNvSpPr>
          <p:nvPr/>
        </p:nvSpPr>
        <p:spPr>
          <a:xfrm>
            <a:off x="1042817" y="2858173"/>
            <a:ext cx="1868556" cy="570827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1" kern="1200" cap="all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/>
            <a:r>
              <a:rPr lang="de-DE" sz="800" noProof="0" dirty="0"/>
              <a:t>L</a:t>
            </a:r>
            <a:r>
              <a:rPr lang="de-DE" sz="800" dirty="0" err="1"/>
              <a:t>adesäule</a:t>
            </a:r>
            <a:r>
              <a:rPr lang="de-DE" sz="800" dirty="0"/>
              <a:t> privat</a:t>
            </a:r>
            <a:endParaRPr lang="de-DE" sz="800" noProof="0" dirty="0"/>
          </a:p>
        </p:txBody>
      </p:sp>
      <p:sp>
        <p:nvSpPr>
          <p:cNvPr id="2" name="Textplatzhalter 170">
            <a:extLst>
              <a:ext uri="{FF2B5EF4-FFF2-40B4-BE49-F238E27FC236}">
                <a16:creationId xmlns:a16="http://schemas.microsoft.com/office/drawing/2014/main" id="{4BF60B2E-A523-6B66-6B7A-40F18EEF5C8D}"/>
              </a:ext>
            </a:extLst>
          </p:cNvPr>
          <p:cNvSpPr>
            <a:spLocks noGrp="1"/>
          </p:cNvSpPr>
          <p:nvPr/>
        </p:nvSpPr>
        <p:spPr>
          <a:xfrm>
            <a:off x="1042817" y="4053357"/>
            <a:ext cx="1869219" cy="5708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1" kern="1200" cap="all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/>
            <a:r>
              <a:rPr lang="de-DE" sz="800" noProof="0" dirty="0"/>
              <a:t>Gewerbe</a:t>
            </a:r>
          </a:p>
        </p:txBody>
      </p:sp>
      <p:sp>
        <p:nvSpPr>
          <p:cNvPr id="7" name="Textplatzhalter 170">
            <a:extLst>
              <a:ext uri="{FF2B5EF4-FFF2-40B4-BE49-F238E27FC236}">
                <a16:creationId xmlns:a16="http://schemas.microsoft.com/office/drawing/2014/main" id="{5B7380E2-A1C1-54C2-15D3-83366F0D28C7}"/>
              </a:ext>
            </a:extLst>
          </p:cNvPr>
          <p:cNvSpPr>
            <a:spLocks noGrp="1"/>
          </p:cNvSpPr>
          <p:nvPr/>
        </p:nvSpPr>
        <p:spPr>
          <a:xfrm>
            <a:off x="2970332" y="2260580"/>
            <a:ext cx="938122" cy="5708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1" kern="1200" cap="all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/>
            <a:r>
              <a:rPr lang="de-DE" sz="800" noProof="0" dirty="0"/>
              <a:t>11 </a:t>
            </a:r>
            <a:r>
              <a:rPr lang="de-DE" sz="800" noProof="0" dirty="0" err="1"/>
              <a:t>Kw</a:t>
            </a:r>
            <a:endParaRPr lang="de-DE" sz="800" noProof="0" dirty="0"/>
          </a:p>
        </p:txBody>
      </p:sp>
      <p:sp>
        <p:nvSpPr>
          <p:cNvPr id="15" name="Textplatzhalter 170">
            <a:extLst>
              <a:ext uri="{FF2B5EF4-FFF2-40B4-BE49-F238E27FC236}">
                <a16:creationId xmlns:a16="http://schemas.microsoft.com/office/drawing/2014/main" id="{61B0746D-27F2-414E-8E7A-6065710BDB2D}"/>
              </a:ext>
            </a:extLst>
          </p:cNvPr>
          <p:cNvSpPr>
            <a:spLocks noGrp="1"/>
          </p:cNvSpPr>
          <p:nvPr/>
        </p:nvSpPr>
        <p:spPr>
          <a:xfrm>
            <a:off x="2970331" y="2848720"/>
            <a:ext cx="938122" cy="5708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1" kern="1200" cap="all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/>
            <a:r>
              <a:rPr lang="de-DE" sz="800" dirty="0"/>
              <a:t>10 kW</a:t>
            </a:r>
            <a:endParaRPr lang="de-DE" sz="800" noProof="0" dirty="0"/>
          </a:p>
        </p:txBody>
      </p:sp>
      <p:sp>
        <p:nvSpPr>
          <p:cNvPr id="16" name="Textplatzhalter 170">
            <a:extLst>
              <a:ext uri="{FF2B5EF4-FFF2-40B4-BE49-F238E27FC236}">
                <a16:creationId xmlns:a16="http://schemas.microsoft.com/office/drawing/2014/main" id="{3103BDF4-1864-8729-EB8E-6A636E9EEB1B}"/>
              </a:ext>
            </a:extLst>
          </p:cNvPr>
          <p:cNvSpPr>
            <a:spLocks noGrp="1"/>
          </p:cNvSpPr>
          <p:nvPr/>
        </p:nvSpPr>
        <p:spPr>
          <a:xfrm>
            <a:off x="2970331" y="3455765"/>
            <a:ext cx="938122" cy="5708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1" kern="1200" cap="all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/>
            <a:r>
              <a:rPr lang="de-DE" sz="800" dirty="0"/>
              <a:t>4 KW</a:t>
            </a:r>
            <a:endParaRPr lang="de-DE" sz="800" noProof="0" dirty="0"/>
          </a:p>
        </p:txBody>
      </p:sp>
      <p:sp>
        <p:nvSpPr>
          <p:cNvPr id="17" name="Textplatzhalter 170">
            <a:extLst>
              <a:ext uri="{FF2B5EF4-FFF2-40B4-BE49-F238E27FC236}">
                <a16:creationId xmlns:a16="http://schemas.microsoft.com/office/drawing/2014/main" id="{65112600-1DEA-B5AA-CBB2-CF364185E6BE}"/>
              </a:ext>
            </a:extLst>
          </p:cNvPr>
          <p:cNvSpPr>
            <a:spLocks noGrp="1"/>
          </p:cNvSpPr>
          <p:nvPr/>
        </p:nvSpPr>
        <p:spPr>
          <a:xfrm>
            <a:off x="2955082" y="4053357"/>
            <a:ext cx="938122" cy="5708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1" kern="1200" cap="all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rtl="0"/>
            <a:r>
              <a:rPr lang="de-DE" sz="800" dirty="0"/>
              <a:t>25 kW</a:t>
            </a:r>
            <a:endParaRPr lang="de-DE" sz="800" noProof="0" dirty="0"/>
          </a:p>
        </p:txBody>
      </p:sp>
      <p:sp>
        <p:nvSpPr>
          <p:cNvPr id="18" name="Textplatzhalter 170">
            <a:extLst>
              <a:ext uri="{FF2B5EF4-FFF2-40B4-BE49-F238E27FC236}">
                <a16:creationId xmlns:a16="http://schemas.microsoft.com/office/drawing/2014/main" id="{2A8149A0-4F46-FB5A-C290-14A10F134529}"/>
              </a:ext>
            </a:extLst>
          </p:cNvPr>
          <p:cNvSpPr>
            <a:spLocks noGrp="1"/>
          </p:cNvSpPr>
          <p:nvPr/>
        </p:nvSpPr>
        <p:spPr>
          <a:xfrm>
            <a:off x="3918839" y="2260580"/>
            <a:ext cx="1868556" cy="5708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1" kern="1200" cap="all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pt-BR" sz="800" dirty="0"/>
              <a:t>g(n) = g_inf + (1,0 - g_inf) · n^(-0,75)</a:t>
            </a:r>
            <a:br>
              <a:rPr lang="pt-BR" sz="800" dirty="0"/>
            </a:br>
            <a:br>
              <a:rPr lang="pt-BR" sz="800" dirty="0"/>
            </a:br>
            <a:r>
              <a:rPr lang="pt-BR" sz="800" dirty="0"/>
              <a:t>g_inf = 0,0</a:t>
            </a:r>
            <a:endParaRPr lang="de-DE" sz="800" noProof="0" dirty="0"/>
          </a:p>
        </p:txBody>
      </p:sp>
      <p:sp>
        <p:nvSpPr>
          <p:cNvPr id="19" name="Textplatzhalter 170">
            <a:extLst>
              <a:ext uri="{FF2B5EF4-FFF2-40B4-BE49-F238E27FC236}">
                <a16:creationId xmlns:a16="http://schemas.microsoft.com/office/drawing/2014/main" id="{63CA63A3-EB48-34C9-3904-66AE55E01A37}"/>
              </a:ext>
            </a:extLst>
          </p:cNvPr>
          <p:cNvSpPr>
            <a:spLocks noGrp="1"/>
          </p:cNvSpPr>
          <p:nvPr/>
        </p:nvSpPr>
        <p:spPr>
          <a:xfrm>
            <a:off x="3918839" y="2856008"/>
            <a:ext cx="1868556" cy="55380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1" kern="1200" cap="all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pt-BR" sz="800" dirty="0"/>
              <a:t>g(n) = g_inf + (1 - g_inf) · a · (n - 1)^b</a:t>
            </a:r>
            <a:br>
              <a:rPr lang="pt-BR" sz="800" dirty="0"/>
            </a:br>
            <a:r>
              <a:rPr lang="pt-BR" sz="800" dirty="0"/>
              <a:t>a = 1,4343</a:t>
            </a:r>
            <a:br>
              <a:rPr lang="pt-BR" sz="800" dirty="0"/>
            </a:br>
            <a:r>
              <a:rPr lang="pt-BR" sz="800" dirty="0"/>
              <a:t>b = -0,5203</a:t>
            </a:r>
            <a:br>
              <a:rPr lang="pt-BR" sz="800" dirty="0"/>
            </a:br>
            <a:r>
              <a:rPr lang="pt-BR" sz="800" dirty="0"/>
              <a:t>g_inf = 0,1081</a:t>
            </a:r>
            <a:endParaRPr lang="de-DE" sz="800" noProof="0" dirty="0"/>
          </a:p>
        </p:txBody>
      </p:sp>
      <p:sp>
        <p:nvSpPr>
          <p:cNvPr id="20" name="Textplatzhalter 170">
            <a:extLst>
              <a:ext uri="{FF2B5EF4-FFF2-40B4-BE49-F238E27FC236}">
                <a16:creationId xmlns:a16="http://schemas.microsoft.com/office/drawing/2014/main" id="{74D60C99-8443-ADB0-1FEF-CB4F6FB9A356}"/>
              </a:ext>
            </a:extLst>
          </p:cNvPr>
          <p:cNvSpPr>
            <a:spLocks noGrp="1"/>
          </p:cNvSpPr>
          <p:nvPr/>
        </p:nvSpPr>
        <p:spPr>
          <a:xfrm>
            <a:off x="3918839" y="3455845"/>
            <a:ext cx="1868556" cy="5708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1" kern="1200" cap="all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pt-BR" sz="800"/>
              <a:t>g(n) = 1,05 · n^(-0,03)</a:t>
            </a:r>
            <a:endParaRPr lang="de-DE" sz="800" dirty="0"/>
          </a:p>
        </p:txBody>
      </p:sp>
      <p:sp>
        <p:nvSpPr>
          <p:cNvPr id="21" name="Textplatzhalter 170">
            <a:extLst>
              <a:ext uri="{FF2B5EF4-FFF2-40B4-BE49-F238E27FC236}">
                <a16:creationId xmlns:a16="http://schemas.microsoft.com/office/drawing/2014/main" id="{33DD292C-FF34-450C-FF59-5C6F144CF898}"/>
              </a:ext>
            </a:extLst>
          </p:cNvPr>
          <p:cNvSpPr>
            <a:spLocks noGrp="1"/>
          </p:cNvSpPr>
          <p:nvPr/>
        </p:nvSpPr>
        <p:spPr>
          <a:xfrm>
            <a:off x="3908453" y="4053357"/>
            <a:ext cx="1868556" cy="5708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1" kern="1200" cap="all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pt-BR" sz="800" dirty="0"/>
              <a:t>g(n) = g_inf + (1 - g_inf) · n^a</a:t>
            </a:r>
            <a:br>
              <a:rPr lang="pt-BR" sz="800" dirty="0"/>
            </a:br>
            <a:br>
              <a:rPr lang="pt-BR" sz="800" dirty="0"/>
            </a:br>
            <a:r>
              <a:rPr lang="pt-BR" sz="800" dirty="0"/>
              <a:t>a = -0,5</a:t>
            </a:r>
            <a:br>
              <a:rPr lang="pt-BR" sz="800" dirty="0"/>
            </a:br>
            <a:r>
              <a:rPr lang="pt-BR" sz="800" dirty="0"/>
              <a:t>g_inf = 0,7</a:t>
            </a:r>
            <a:endParaRPr lang="de-DE" sz="800" noProof="0" dirty="0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62F6B78-43F5-6BBF-2E33-B6DE83835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39" y="2342392"/>
            <a:ext cx="4567358" cy="2226745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2CB927D1-507A-E997-A7BC-EBD3643E3E45}"/>
              </a:ext>
            </a:extLst>
          </p:cNvPr>
          <p:cNvSpPr txBox="1"/>
          <p:nvPr/>
        </p:nvSpPr>
        <p:spPr>
          <a:xfrm>
            <a:off x="6953239" y="6292334"/>
            <a:ext cx="60946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dirty="0">
                <a:hlinkClick r:id="rId4"/>
              </a:rPr>
              <a:t>Gruppen-Gleichzeitigkeitsfaktoren - Docs</a:t>
            </a:r>
            <a:endParaRPr lang="de-DE" sz="1100" dirty="0"/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C6E25A53-4593-C1C6-5BCA-780CCE0A4A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39" y="4593236"/>
            <a:ext cx="4892984" cy="82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143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>
            <a:extLst>
              <a:ext uri="{FF2B5EF4-FFF2-40B4-BE49-F238E27FC236}">
                <a16:creationId xmlns:a16="http://schemas.microsoft.com/office/drawing/2014/main" id="{28B0D7F5-C078-5C48-69D3-4604A99BE38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82564" y="446403"/>
            <a:ext cx="7631635" cy="1720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de-DE" altLang="de-DE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Ausgewähltes Gebiet: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Mischgebiet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de-DE" altLang="de-DE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Gebäudeclustering: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100 % Neubau ohne Gasversorgung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de-DE" altLang="de-DE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Wärmepumpendurchdringung: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100 % pro Wohneinheit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de-DE" altLang="de-DE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Anzahl Wohneinheiten (WE):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100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de-DE" altLang="de-DE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Anzahl Gewerbeeinheiten: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de-DE" altLang="de-DE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Ausgewählte Siedlungsstruktur: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Innenstadt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367E3E7-CB3B-94D9-1855-AF723938E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6838"/>
            <a:ext cx="12192000" cy="638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39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Ganymed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2fc797-dd1b-4e05-b07f-1be4fe8eadf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C35A6729713D54BA7B781AE18DF194D" ma:contentTypeVersion="5" ma:contentTypeDescription="Ein neues Dokument erstellen." ma:contentTypeScope="" ma:versionID="640e44e7c37cc9a8c8950049985b4c1d">
  <xsd:schema xmlns:xsd="http://www.w3.org/2001/XMLSchema" xmlns:xs="http://www.w3.org/2001/XMLSchema" xmlns:p="http://schemas.microsoft.com/office/2006/metadata/properties" xmlns:ns3="942fc797-dd1b-4e05-b07f-1be4fe8eadf0" targetNamespace="http://schemas.microsoft.com/office/2006/metadata/properties" ma:root="true" ma:fieldsID="0b2ef7335102ba9cea10cfad4268562a" ns3:_="">
    <xsd:import namespace="942fc797-dd1b-4e05-b07f-1be4fe8eadf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fc797-dd1b-4e05-b07f-1be4fe8eadf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32665D-320B-4E96-8C76-6B44EA2963F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34DB25-80B4-43A8-9D1C-9EDBE748D7DC}">
  <ds:schemaRefs>
    <ds:schemaRef ds:uri="http://purl.org/dc/elements/1.1/"/>
    <ds:schemaRef ds:uri="http://schemas.microsoft.com/office/2006/metadata/properties"/>
    <ds:schemaRef ds:uri="942fc797-dd1b-4e05-b07f-1be4fe8eadf0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4E6C9D3-4696-4C58-9B51-8461DFC4FE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fc797-dd1b-4e05-b07f-1be4fe8ead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363</Words>
  <Application>Microsoft Office PowerPoint</Application>
  <PresentationFormat>Breitbild</PresentationFormat>
  <Paragraphs>72</Paragraphs>
  <Slides>9</Slides>
  <Notes>9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0" baseType="lpstr">
      <vt:lpstr>Office</vt:lpstr>
      <vt:lpstr>PowerPoint-Präsentation</vt:lpstr>
      <vt:lpstr>PowerPoint-Präsentation</vt:lpstr>
      <vt:lpstr>PowerPoint-Präsentation</vt:lpstr>
      <vt:lpstr>Unterschiedliche Parameter</vt:lpstr>
      <vt:lpstr>Gebietseinfluss</vt:lpstr>
      <vt:lpstr>Annahmen E-Fahrzeuganzahl</vt:lpstr>
      <vt:lpstr>Wärmepumpe Anteil, berechnen</vt:lpstr>
      <vt:lpstr>Grundlast Annahmen und Gleichzeitigkeitsfaktor </vt:lpstr>
      <vt:lpstr>PowerPoint-Präsentation</vt:lpstr>
    </vt:vector>
  </TitlesOfParts>
  <Company>badenova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Bergaoui Nada</dc:creator>
  <cp:lastModifiedBy>Bergaoui Nada</cp:lastModifiedBy>
  <cp:revision>2</cp:revision>
  <dcterms:created xsi:type="dcterms:W3CDTF">2026-05-13T08:24:19Z</dcterms:created>
  <dcterms:modified xsi:type="dcterms:W3CDTF">2026-05-29T09:16:53Z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0x0101004C35A6729713D54BA7B781AE18DF194D</vt:lpwstr>
  </property>
  <property fmtid="{D5CDD505-2E9C-101B-9397-08002B2CF9AE}" pid="3" name="MSIP_Label_b8c14297-b73f-47b2-90b5-9d2893ce10c0_Enabled">
    <vt:lpwstr>true</vt:lpwstr>
  </property>
  <property fmtid="{D5CDD505-2E9C-101B-9397-08002B2CF9AE}" pid="4" name="MSIP_Label_b8c14297-b73f-47b2-90b5-9d2893ce10c0_SetDate">
    <vt:lpwstr>2026-05-13T12:04:35Z</vt:lpwstr>
  </property>
  <property fmtid="{D5CDD505-2E9C-101B-9397-08002B2CF9AE}" pid="5" name="MSIP_Label_b8c14297-b73f-47b2-90b5-9d2893ce10c0_Method">
    <vt:lpwstr>Standard</vt:lpwstr>
  </property>
  <property fmtid="{D5CDD505-2E9C-101B-9397-08002B2CF9AE}" pid="6" name="MSIP_Label_b8c14297-b73f-47b2-90b5-9d2893ce10c0_Name">
    <vt:lpwstr>Intern</vt:lpwstr>
  </property>
  <property fmtid="{D5CDD505-2E9C-101B-9397-08002B2CF9AE}" pid="7" name="MSIP_Label_b8c14297-b73f-47b2-90b5-9d2893ce10c0_SiteId">
    <vt:lpwstr>e84b42f0-788b-4b39-943b-bfa2c8014cfd</vt:lpwstr>
  </property>
  <property fmtid="{D5CDD505-2E9C-101B-9397-08002B2CF9AE}" pid="8" name="MSIP_Label_b8c14297-b73f-47b2-90b5-9d2893ce10c0_ActionId">
    <vt:lpwstr>65c75984-3775-4c4e-91cb-b119121ecef7</vt:lpwstr>
  </property>
  <property fmtid="{D5CDD505-2E9C-101B-9397-08002B2CF9AE}" pid="9" name="MSIP_Label_b8c14297-b73f-47b2-90b5-9d2893ce10c0_ContentBits">
    <vt:lpwstr>2</vt:lpwstr>
  </property>
  <property fmtid="{D5CDD505-2E9C-101B-9397-08002B2CF9AE}" pid="10" name="MSIP_Label_b8c14297-b73f-47b2-90b5-9d2893ce10c0_Tag">
    <vt:lpwstr>10, 3, 0, 1</vt:lpwstr>
  </property>
  <property fmtid="{D5CDD505-2E9C-101B-9397-08002B2CF9AE}" pid="11" name="ClassificationContentMarkingFooterLocations">
    <vt:lpwstr>Office:8</vt:lpwstr>
  </property>
  <property fmtid="{D5CDD505-2E9C-101B-9397-08002B2CF9AE}" pid="12" name="ClassificationContentMarkingFooterText">
    <vt:lpwstr>intern</vt:lpwstr>
  </property>
</Properties>
</file>